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9875838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89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701137" y="-4133088"/>
            <a:ext cx="7772400" cy="77724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7878" y="8933688"/>
            <a:ext cx="7315200" cy="7315200"/>
          </a:xfrm>
          <a:prstGeom prst="ellipse">
            <a:avLst/>
          </a:prstGeom>
          <a:solidFill>
            <a:srgbClr val="FFD60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97680" y="2743200"/>
            <a:ext cx="1280160" cy="1280160"/>
          </a:xfrm>
          <a:prstGeom prst="ellipse">
            <a:avLst/>
          </a:prstGeom>
          <a:solidFill>
            <a:srgbClr val="101A12"/>
          </a:solidFill>
          <a:ln w="19050">
            <a:solidFill>
              <a:srgbClr val="1E4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0" y="274320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>
                <a:solidFill>
                  <a:srgbClr val="FFD600"/>
                </a:solidFill>
                <a:latin typeface="Open Sans"/>
              </a:rP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83210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spc="240" dirty="0">
                <a:solidFill>
                  <a:srgbClr val="35E07E"/>
                </a:solidFill>
                <a:latin typeface="Open Sans Semibold"/>
              </a:rPr>
              <a:t>PROJETO OPEN-SOURCE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8321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7200" b="1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7200" b="1">
                <a:solidFill>
                  <a:srgbClr val="18CB5F"/>
                </a:solidFill>
                <a:latin typeface="Open Sans Extrabold"/>
              </a:rPr>
              <a:t>COPA</a:t>
            </a:r>
          </a:p>
          <a:p>
            <a:pPr algn="ctr">
              <a:lnSpc>
                <a:spcPct val="95000"/>
              </a:lnSpc>
            </a:pPr>
            <a:r>
              <a:rPr sz="7200" b="1">
                <a:solidFill>
                  <a:srgbClr val="FFD600"/>
                </a:solidFill>
                <a:latin typeface="Open Sans Extrabold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7772400"/>
            <a:ext cx="7315200" cy="754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dirty="0">
                <a:solidFill>
                  <a:srgbClr val="979FA9"/>
                </a:solidFill>
                <a:latin typeface="Open Sans"/>
              </a:rPr>
              <a:t>O </a:t>
            </a:r>
            <a:r>
              <a:rPr sz="2200" b="0" dirty="0" err="1">
                <a:solidFill>
                  <a:srgbClr val="979FA9"/>
                </a:solidFill>
                <a:latin typeface="Open Sans"/>
              </a:rPr>
              <a:t>bolão</a:t>
            </a:r>
            <a:r>
              <a:rPr sz="2200" b="0" dirty="0">
                <a:solidFill>
                  <a:srgbClr val="979FA9"/>
                </a:solidFill>
                <a:latin typeface="Open Sans"/>
              </a:rPr>
              <a:t> da Copa do Mundo </a:t>
            </a:r>
            <a:r>
              <a:rPr lang="pt-PT" sz="2200" b="0" dirty="0">
                <a:solidFill>
                  <a:srgbClr val="979FA9"/>
                </a:solidFill>
                <a:latin typeface="Open Sans"/>
              </a:rPr>
              <a:t>-</a:t>
            </a:r>
            <a:r>
              <a:rPr sz="22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200" b="0" dirty="0" err="1">
                <a:solidFill>
                  <a:srgbClr val="979FA9"/>
                </a:solidFill>
                <a:latin typeface="Open Sans"/>
              </a:rPr>
              <a:t>completo</a:t>
            </a:r>
            <a:r>
              <a:rPr sz="2200" b="0" dirty="0">
                <a:solidFill>
                  <a:srgbClr val="979FA9"/>
                </a:solidFill>
                <a:latin typeface="Open Sans"/>
              </a:rPr>
              <a:t>, </a:t>
            </a:r>
            <a:r>
              <a:rPr sz="2200" b="0" dirty="0" err="1">
                <a:solidFill>
                  <a:srgbClr val="979FA9"/>
                </a:solidFill>
                <a:latin typeface="Open Sans"/>
              </a:rPr>
              <a:t>em</a:t>
            </a:r>
            <a:r>
              <a:rPr sz="2200" b="0" dirty="0">
                <a:solidFill>
                  <a:srgbClr val="979FA9"/>
                </a:solidFill>
                <a:latin typeface="Open Sans"/>
              </a:rPr>
              <a:t> tempo real</a:t>
            </a:r>
            <a:r>
              <a:rPr lang="pt-PT" sz="2200" b="0" dirty="0">
                <a:solidFill>
                  <a:srgbClr val="979FA9"/>
                </a:solidFill>
                <a:latin typeface="Open Sans"/>
              </a:rPr>
              <a:t>, com IA Generativa </a:t>
            </a:r>
            <a:r>
              <a:rPr sz="2200" b="0" dirty="0">
                <a:solidFill>
                  <a:srgbClr val="979FA9"/>
                </a:solidFill>
                <a:latin typeface="Open Sans"/>
              </a:rPr>
              <a:t>e </a:t>
            </a:r>
            <a:r>
              <a:rPr sz="2200" b="1" dirty="0">
                <a:solidFill>
                  <a:srgbClr val="F4F6F7"/>
                </a:solidFill>
                <a:latin typeface="Open Sans Semibold"/>
              </a:rPr>
              <a:t>open-source</a:t>
            </a:r>
            <a:r>
              <a:rPr sz="2200" b="0" dirty="0">
                <a:solidFill>
                  <a:srgbClr val="979FA9"/>
                </a:solidFill>
                <a:latin typeface="Open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905256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spc="120">
                <a:solidFill>
                  <a:srgbClr val="35E07E"/>
                </a:solidFill>
                <a:latin typeface="Open Sans Semibold"/>
              </a:rPr>
              <a:t>React · TypeScript · Supabase · PWA ·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1201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0" spc="120">
                <a:solidFill>
                  <a:srgbClr val="979FA9"/>
                </a:solidFill>
                <a:latin typeface="Open Sans Semibold"/>
              </a:rPr>
              <a:t>arraste  </a:t>
            </a:r>
            <a:r>
              <a:rPr sz="1500" b="1">
                <a:solidFill>
                  <a:srgbClr val="18CB5F"/>
                </a:solidFill>
                <a:latin typeface="Open Sans Extrabold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144768" y="-1755648"/>
            <a:ext cx="5486400" cy="54864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A IDEIA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5000" b="1">
                <a:solidFill>
                  <a:srgbClr val="F4F6F7"/>
                </a:solidFill>
                <a:latin typeface="Open Sans Extrabold"/>
              </a:rPr>
              <a:t>Todo grupo tem </a:t>
            </a:r>
            <a:r>
              <a:rPr sz="5000" b="1">
                <a:solidFill>
                  <a:srgbClr val="18CB5F"/>
                </a:solidFill>
                <a:latin typeface="Open Sans Extrabold"/>
              </a:rPr>
              <a:t>aquele bolão</a:t>
            </a:r>
            <a:r>
              <a:rPr sz="5000" b="1">
                <a:solidFill>
                  <a:srgbClr val="F4F6F7"/>
                </a:solidFill>
                <a:latin typeface="Open Sans Extrabol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979FA9"/>
                </a:solidFill>
                <a:latin typeface="Open Sans"/>
              </a:rPr>
              <a:t>Geralmente numa planilha bagunçada no WhatsApp. Eu transformei isso num app de verdade: palpites por jogo, ranking ao vivo e muita zoeira.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754880"/>
            <a:ext cx="8321040" cy="5064633"/>
          </a:xfrm>
          <a:prstGeom prst="roundRect">
            <a:avLst>
              <a:gd name="adj" fmla="val 4500"/>
            </a:avLst>
          </a:prstGeom>
          <a:solidFill>
            <a:srgbClr val="171A1F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489204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" y="4892040"/>
            <a:ext cx="118872" cy="118872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53896" y="4892040"/>
            <a:ext cx="118872" cy="118872"/>
          </a:xfrm>
          <a:prstGeom prst="ellipse">
            <a:avLst/>
          </a:prstGeom>
          <a:solidFill>
            <a:srgbClr val="18C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_deskto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38928"/>
            <a:ext cx="8321040" cy="46775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755648" y="8983980"/>
            <a:ext cx="5486400" cy="54864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PALPITES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800" b="1">
                <a:solidFill>
                  <a:srgbClr val="F4F6F7"/>
                </a:solidFill>
                <a:latin typeface="Open Sans Extrabold"/>
              </a:rPr>
              <a:t>Cravou o placar? </a:t>
            </a:r>
            <a:r>
              <a:rPr sz="4800" b="1">
                <a:solidFill>
                  <a:srgbClr val="18CB5F"/>
                </a:solidFill>
                <a:latin typeface="Open Sans Extrabold"/>
              </a:rPr>
              <a:t>+10</a:t>
            </a:r>
            <a:r>
              <a:rPr sz="4800" b="1">
                <a:solidFill>
                  <a:srgbClr val="F4F6F7"/>
                </a:solidFill>
                <a:latin typeface="Open Sans Extrabol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669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dirty="0" err="1">
                <a:solidFill>
                  <a:srgbClr val="979FA9"/>
                </a:solidFill>
                <a:latin typeface="Open Sans"/>
              </a:rPr>
              <a:t>Cada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um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chuta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placar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antes do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apito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.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Acertou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em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cheio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, 10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pontos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;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só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vencedor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, 5.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Trava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no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início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do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jogo</a:t>
            </a:r>
            <a:r>
              <a:rPr lang="pt-PT" sz="2000" dirty="0">
                <a:solidFill>
                  <a:srgbClr val="979FA9"/>
                </a:solidFill>
                <a:latin typeface="Open Sans"/>
              </a:rPr>
              <a:t>,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sem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dar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uma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de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adivinho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72000"/>
            <a:ext cx="8321040" cy="5064633"/>
          </a:xfrm>
          <a:prstGeom prst="roundRect">
            <a:avLst>
              <a:gd name="adj" fmla="val 4500"/>
            </a:avLst>
          </a:prstGeom>
          <a:solidFill>
            <a:srgbClr val="171A1F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470916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" y="4709160"/>
            <a:ext cx="118872" cy="118872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53896" y="4709160"/>
            <a:ext cx="118872" cy="118872"/>
          </a:xfrm>
          <a:prstGeom prst="ellipse">
            <a:avLst/>
          </a:prstGeom>
          <a:solidFill>
            <a:srgbClr val="18C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_desktop-palp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956048"/>
            <a:ext cx="8321040" cy="46778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144768" y="-1508760"/>
            <a:ext cx="5486400" cy="5486400"/>
          </a:xfrm>
          <a:prstGeom prst="ellipse">
            <a:avLst/>
          </a:prstGeom>
          <a:solidFill>
            <a:srgbClr val="FFD60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TEMPO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600" b="1">
                <a:solidFill>
                  <a:srgbClr val="F4F6F7"/>
                </a:solidFill>
                <a:latin typeface="Open Sans Extrabold"/>
              </a:rPr>
              <a:t>O ranking </a:t>
            </a:r>
            <a:r>
              <a:rPr sz="4600" b="1">
                <a:solidFill>
                  <a:srgbClr val="18CB5F"/>
                </a:solidFill>
                <a:latin typeface="Open Sans Extrabold"/>
              </a:rPr>
              <a:t>vira</a:t>
            </a:r>
            <a:r>
              <a:rPr sz="4600" b="1">
                <a:solidFill>
                  <a:srgbClr val="F4F6F7"/>
                </a:solidFill>
                <a:latin typeface="Open Sans Extrabold"/>
              </a:rPr>
              <a:t> a cada gol.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79FA9"/>
                </a:solidFill>
                <a:latin typeface="Open Sans"/>
              </a:rPr>
              <a:t>Resultados entram sozinhos pela API pública da ESPN. A classificação e o gráfico de evolução atualizam ao vivo, via Supabase Realtime.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8321040" cy="5064633"/>
          </a:xfrm>
          <a:prstGeom prst="roundRect">
            <a:avLst>
              <a:gd name="adj" fmla="val 4500"/>
            </a:avLst>
          </a:prstGeom>
          <a:solidFill>
            <a:srgbClr val="171A1F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507492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" y="5074920"/>
            <a:ext cx="118872" cy="118872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53896" y="5074920"/>
            <a:ext cx="118872" cy="118872"/>
          </a:xfrm>
          <a:prstGeom prst="ellipse">
            <a:avLst/>
          </a:prstGeom>
          <a:solidFill>
            <a:srgbClr val="18C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_desktop-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21808"/>
            <a:ext cx="8321040" cy="46778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755648" y="-2125980"/>
            <a:ext cx="5486400" cy="54864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ACOMPANHE TUDO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600" b="1">
                <a:solidFill>
                  <a:srgbClr val="F4F6F7"/>
                </a:solidFill>
                <a:latin typeface="Open Sans Extrabold"/>
              </a:rPr>
              <a:t>Grupos, artilharia</a:t>
            </a:r>
            <a:r>
              <a:rPr sz="4600" b="1">
                <a:solidFill>
                  <a:srgbClr val="18CB5F"/>
                </a:solidFill>
                <a:latin typeface="Open Sans Extrabold"/>
              </a:rPr>
              <a:t> e mais.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79FA9"/>
                </a:solidFill>
                <a:latin typeface="Open Sans"/>
              </a:rPr>
              <a:t>Tabela dos 12 grupos atualizada em tempo real e artilharia montada automaticamente a partir dos gols de cada partida.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8321040" cy="5064633"/>
          </a:xfrm>
          <a:prstGeom prst="roundRect">
            <a:avLst>
              <a:gd name="adj" fmla="val 4500"/>
            </a:avLst>
          </a:prstGeom>
          <a:solidFill>
            <a:srgbClr val="171A1F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507492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" y="5074920"/>
            <a:ext cx="118872" cy="118872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53896" y="5074920"/>
            <a:ext cx="118872" cy="118872"/>
          </a:xfrm>
          <a:prstGeom prst="ellipse">
            <a:avLst/>
          </a:prstGeom>
          <a:solidFill>
            <a:srgbClr val="18C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_desktop-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21808"/>
            <a:ext cx="8321040" cy="46778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50992" y="8613648"/>
            <a:ext cx="5486400" cy="54864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DIVERSÃO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600" b="1">
                <a:solidFill>
                  <a:srgbClr val="FFD600"/>
                </a:solidFill>
                <a:latin typeface="Open Sans Extrabold"/>
              </a:rPr>
              <a:t>"Seu Zé" </a:t>
            </a:r>
            <a:r>
              <a:rPr sz="4600" b="1">
                <a:solidFill>
                  <a:srgbClr val="F4F6F7"/>
                </a:solidFill>
                <a:latin typeface="Open Sans Extrabold"/>
              </a:rPr>
              <a:t>zoa a rodada.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1014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dirty="0">
                <a:solidFill>
                  <a:srgbClr val="979FA9"/>
                </a:solidFill>
                <a:latin typeface="Open Sans"/>
              </a:rPr>
              <a:t>Stories no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estilo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Instagram,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gerados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por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IA, com 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pior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palpite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, a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maior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zebra e 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vidente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da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rodada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.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Expiram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em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24h,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como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manda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 o </a:t>
            </a:r>
            <a:r>
              <a:rPr sz="2000" b="0" dirty="0" err="1">
                <a:solidFill>
                  <a:srgbClr val="979FA9"/>
                </a:solidFill>
                <a:latin typeface="Open Sans"/>
              </a:rPr>
              <a:t>figurino</a:t>
            </a:r>
            <a:r>
              <a:rPr sz="2000" b="0" dirty="0">
                <a:solidFill>
                  <a:srgbClr val="979FA9"/>
                </a:solidFill>
                <a:latin typeface="Open Sans"/>
              </a:rPr>
              <a:t>.</a:t>
            </a:r>
            <a:r>
              <a:rPr lang="pt-PT" sz="2000" b="0" dirty="0">
                <a:solidFill>
                  <a:srgbClr val="979FA9"/>
                </a:solidFill>
                <a:latin typeface="Open Sans"/>
              </a:rPr>
              <a:t> </a:t>
            </a:r>
            <a:endParaRPr sz="2000" b="0" dirty="0">
              <a:solidFill>
                <a:srgbClr val="979FA9"/>
              </a:solidFill>
              <a:latin typeface="Open San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8321040" cy="5064633"/>
          </a:xfrm>
          <a:prstGeom prst="roundRect">
            <a:avLst>
              <a:gd name="adj" fmla="val 4500"/>
            </a:avLst>
          </a:prstGeom>
          <a:solidFill>
            <a:srgbClr val="171A1F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507492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" y="5074920"/>
            <a:ext cx="118872" cy="118872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53896" y="5074920"/>
            <a:ext cx="118872" cy="118872"/>
          </a:xfrm>
          <a:prstGeom prst="ellipse">
            <a:avLst/>
          </a:prstGeom>
          <a:solidFill>
            <a:srgbClr val="18C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b="7096"/>
          <a:stretch/>
        </p:blipFill>
        <p:spPr>
          <a:xfrm>
            <a:off x="777240" y="5324783"/>
            <a:ext cx="8321040" cy="4677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338791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261872" y="-1508760"/>
            <a:ext cx="5486400" cy="54864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PROGRESSIVE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800" b="1">
                <a:solidFill>
                  <a:srgbClr val="F4F6F7"/>
                </a:solidFill>
                <a:latin typeface="Open Sans Extrabold"/>
              </a:rPr>
              <a:t>Instala no celular</a:t>
            </a:r>
            <a:r>
              <a:rPr sz="4800" b="1">
                <a:solidFill>
                  <a:srgbClr val="18CB5F"/>
                </a:solidFill>
                <a:latin typeface="Open Sans Extrabol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79FA9"/>
                </a:solidFill>
                <a:latin typeface="Open Sans"/>
              </a:rPr>
              <a:t>Funciona como app nativo no iOS e Android: ícone na tela, offline e notificações push (Web Push) quando alguém te marca no chat.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979FA9"/>
                </a:solidFill>
                <a:latin typeface="DejaVu Sans Mono"/>
              </a:rPr>
              <a:t>0</a:t>
            </a:r>
            <a:r>
              <a:rPr lang="pt-BR" sz="1200" b="0" dirty="0">
                <a:solidFill>
                  <a:srgbClr val="979FA9"/>
                </a:solidFill>
                <a:latin typeface="DejaVu Sans Mono"/>
              </a:rPr>
              <a:t>7</a:t>
            </a:r>
            <a:r>
              <a:rPr sz="1200" b="0" dirty="0">
                <a:solidFill>
                  <a:srgbClr val="979FA9"/>
                </a:solidFill>
                <a:latin typeface="DejaVu Sans Mono"/>
              </a:rPr>
              <a:t> / 10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ADC7ACA8-343F-2B7F-1244-09E1E5481AB4}"/>
              </a:ext>
            </a:extLst>
          </p:cNvPr>
          <p:cNvSpPr/>
          <p:nvPr/>
        </p:nvSpPr>
        <p:spPr>
          <a:xfrm>
            <a:off x="776922" y="3977640"/>
            <a:ext cx="4160679" cy="7132320"/>
          </a:xfrm>
          <a:prstGeom prst="roundRect">
            <a:avLst>
              <a:gd name="adj" fmla="val 5000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18C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46016FF8-3564-08D1-15CA-78B1D26F36A9}"/>
              </a:ext>
            </a:extLst>
          </p:cNvPr>
          <p:cNvSpPr/>
          <p:nvPr/>
        </p:nvSpPr>
        <p:spPr>
          <a:xfrm>
            <a:off x="4937601" y="3977640"/>
            <a:ext cx="4160679" cy="7132320"/>
          </a:xfrm>
          <a:prstGeom prst="roundRect">
            <a:avLst>
              <a:gd name="adj" fmla="val 5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18C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144768" y="-1508760"/>
            <a:ext cx="5486400" cy="5486400"/>
          </a:xfrm>
          <a:prstGeom prst="ellipse">
            <a:avLst/>
          </a:prstGeom>
          <a:solidFill>
            <a:srgbClr val="FFD60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PAINEL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4600" b="1">
                <a:solidFill>
                  <a:srgbClr val="F4F6F7"/>
                </a:solidFill>
                <a:latin typeface="Open Sans Extrabold"/>
              </a:rPr>
              <a:t>Controle </a:t>
            </a:r>
            <a:r>
              <a:rPr sz="4600" b="1">
                <a:solidFill>
                  <a:srgbClr val="18CB5F"/>
                </a:solidFill>
                <a:latin typeface="Open Sans Extrabold"/>
              </a:rPr>
              <a:t>total</a:t>
            </a:r>
            <a:r>
              <a:rPr sz="4600" b="1">
                <a:solidFill>
                  <a:srgbClr val="F4F6F7"/>
                </a:solidFill>
                <a:latin typeface="Open Sans Extrabold"/>
              </a:rPr>
              <a:t> do bolão.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79FA9"/>
                </a:solidFill>
                <a:latin typeface="Open Sans"/>
              </a:rPr>
              <a:t>Dashboard com métricas, gestão de jogos, convites, resultados especiais, chat e geração de stories — tudo em PT, EN e 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8321040" cy="5064633"/>
          </a:xfrm>
          <a:prstGeom prst="roundRect">
            <a:avLst>
              <a:gd name="adj" fmla="val 4500"/>
            </a:avLst>
          </a:prstGeom>
          <a:solidFill>
            <a:srgbClr val="171A1F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507492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16152" y="5074920"/>
            <a:ext cx="118872" cy="118872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53896" y="5074920"/>
            <a:ext cx="118872" cy="118872"/>
          </a:xfrm>
          <a:prstGeom prst="ellipse">
            <a:avLst/>
          </a:prstGeom>
          <a:solidFill>
            <a:srgbClr val="18C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_desktop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21808"/>
            <a:ext cx="8321040" cy="46778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80160" y="2514600"/>
            <a:ext cx="7315200" cy="73152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18CB5F"/>
                </a:solidFill>
                <a:latin typeface="Open Sans Semibold"/>
              </a:rPr>
              <a:t>POR BAIXO DO CAPÔ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5200" b="1">
                <a:solidFill>
                  <a:srgbClr val="F4F6F7"/>
                </a:solidFill>
                <a:latin typeface="Open Sans Extrabold"/>
              </a:rPr>
              <a:t>A </a:t>
            </a:r>
            <a:r>
              <a:rPr sz="5200" b="1">
                <a:solidFill>
                  <a:srgbClr val="18CB5F"/>
                </a:solidFill>
                <a:latin typeface="Open Sans Extrabold"/>
              </a:rPr>
              <a:t>stack</a:t>
            </a:r>
            <a:r>
              <a:rPr sz="5200" b="1">
                <a:solidFill>
                  <a:srgbClr val="F4F6F7"/>
                </a:solidFill>
                <a:latin typeface="Open Sans Extrabol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79FA9"/>
                </a:solidFill>
                <a:latin typeface="Open Sans"/>
              </a:rPr>
              <a:t>Front estático e de graça no GitHub Pages. Backend serverless no Supabase. CI/CD que roda migrations e deploya edge functions a cada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7200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React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457200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75688" y="4572000"/>
            <a:ext cx="1344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572000"/>
            <a:ext cx="768096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4572000"/>
            <a:ext cx="7680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Vite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57200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4572000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Tailwind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9008" y="457200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9008" y="4572000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Supabase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7456" y="457200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77456" y="4572000"/>
            <a:ext cx="1344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75504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175504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Edge Functions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5175504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5175504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Realtime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5175504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0208" y="5175504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Web Push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48656" y="5175504"/>
            <a:ext cx="67208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656" y="5175504"/>
            <a:ext cx="6720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PWA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7044" y="5175504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67044" y="5175504"/>
            <a:ext cx="10561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i18next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5175504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5175504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779008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779008"/>
            <a:ext cx="11521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ESPN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75688" y="5779008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75688" y="5779008"/>
            <a:ext cx="1728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GitHub 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0208" y="5779008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121814"/>
          </a:solidFill>
          <a:ln w="12700">
            <a:solidFill>
              <a:srgbClr val="1E3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0208" y="5779008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35E07E"/>
                </a:solidFill>
                <a:latin typeface="Open Sans Semibold"/>
              </a:rPr>
              <a:t>Vitest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601968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dirty="0">
                <a:solidFill>
                  <a:srgbClr val="35E07E"/>
                </a:solidFill>
                <a:latin typeface="Open Sans"/>
              </a:rPr>
              <a:t>RLS, testes, code-splitting e 16 migrations </a:t>
            </a:r>
            <a:r>
              <a:rPr sz="1700" b="0" dirty="0" err="1">
                <a:solidFill>
                  <a:srgbClr val="35E07E"/>
                </a:solidFill>
                <a:latin typeface="Open Sans"/>
              </a:rPr>
              <a:t>versionadas</a:t>
            </a:r>
            <a:r>
              <a:rPr sz="1700" b="0" dirty="0">
                <a:solidFill>
                  <a:srgbClr val="35E07E"/>
                </a:solidFill>
                <a:latin typeface="Open Sans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12344400"/>
          </a:xfrm>
          <a:prstGeom prst="rect">
            <a:avLst/>
          </a:prstGeom>
          <a:solidFill>
            <a:srgbClr val="09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225296" y="-1348740"/>
            <a:ext cx="6400800" cy="6400800"/>
          </a:xfrm>
          <a:prstGeom prst="ellipse">
            <a:avLst/>
          </a:prstGeom>
          <a:solidFill>
            <a:srgbClr val="18CB5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50992" y="7749540"/>
            <a:ext cx="5486400" cy="5486400"/>
          </a:xfrm>
          <a:prstGeom prst="ellipse">
            <a:avLst/>
          </a:prstGeom>
          <a:solidFill>
            <a:srgbClr val="FFD60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spc="260">
                <a:solidFill>
                  <a:srgbClr val="35E07E"/>
                </a:solidFill>
                <a:latin typeface="Open Sans Semibold"/>
              </a:rPr>
              <a:t>É OPEN-SOURCE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8321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</a:pPr>
            <a:r>
              <a:rPr sz="5000" b="1">
                <a:solidFill>
                  <a:srgbClr val="F4F6F7"/>
                </a:solidFill>
                <a:latin typeface="Open Sans Extrabold"/>
              </a:rPr>
              <a:t>Curtiu? </a:t>
            </a:r>
            <a:r>
              <a:rPr sz="5000" b="1">
                <a:solidFill>
                  <a:srgbClr val="18CB5F"/>
                </a:solidFill>
                <a:latin typeface="Open Sans Extrabold"/>
              </a:rPr>
              <a:t>Dá uma olhada</a:t>
            </a:r>
            <a:r>
              <a:rPr sz="5000" b="1">
                <a:solidFill>
                  <a:srgbClr val="F4F6F7"/>
                </a:solidFill>
                <a:latin typeface="Open Sans Extrabol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8321040" cy="1064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dirty="0">
                <a:solidFill>
                  <a:srgbClr val="979FA9"/>
                </a:solidFill>
                <a:latin typeface="Open Sans"/>
              </a:rPr>
              <a:t>Código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aberto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pra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estudar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, usar no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seu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grupo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ou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contribuir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. E se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quiser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trocar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ideia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sobre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 o </a:t>
            </a:r>
            <a:r>
              <a:rPr sz="2100" b="0" dirty="0" err="1">
                <a:solidFill>
                  <a:srgbClr val="979FA9"/>
                </a:solidFill>
                <a:latin typeface="Open Sans"/>
              </a:rPr>
              <a:t>projeto</a:t>
            </a:r>
            <a:r>
              <a:rPr sz="2100" b="0" dirty="0">
                <a:solidFill>
                  <a:srgbClr val="979FA9"/>
                </a:solidFill>
                <a:latin typeface="Open Sans"/>
              </a:rPr>
              <a:t>, me chama.</a:t>
            </a:r>
            <a:r>
              <a:rPr lang="pt-PT" sz="2100" b="0" dirty="0">
                <a:solidFill>
                  <a:srgbClr val="979FA9"/>
                </a:solidFill>
                <a:latin typeface="Open Sans"/>
              </a:rPr>
              <a:t> Vamos melhorar até o final da Copa?</a:t>
            </a:r>
            <a:endParaRPr sz="2100" b="0" dirty="0">
              <a:solidFill>
                <a:srgbClr val="979FA9"/>
              </a:solidFill>
              <a:latin typeface="Open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6035040"/>
            <a:ext cx="8321040" cy="1143000"/>
          </a:xfrm>
          <a:prstGeom prst="roundRect">
            <a:avLst>
              <a:gd name="adj" fmla="val 12000"/>
            </a:avLst>
          </a:prstGeom>
          <a:solidFill>
            <a:srgbClr val="14171B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6035040"/>
            <a:ext cx="7406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>
                <a:solidFill>
                  <a:srgbClr val="35E07E"/>
                </a:solidFill>
                <a:latin typeface="Open Sans Semibold"/>
              </a:rPr>
              <a:t>GitHub   </a:t>
            </a:r>
            <a:r>
              <a:rPr sz="1700" b="0">
                <a:solidFill>
                  <a:srgbClr val="F4F6F7"/>
                </a:solidFill>
                <a:latin typeface="DejaVu Sans Mono"/>
              </a:rPr>
              <a:t>github.com/limagabri/soccer-pool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7360920"/>
            <a:ext cx="8321040" cy="1143000"/>
          </a:xfrm>
          <a:prstGeom prst="roundRect">
            <a:avLst>
              <a:gd name="adj" fmla="val 12000"/>
            </a:avLst>
          </a:prstGeom>
          <a:solidFill>
            <a:srgbClr val="14171B"/>
          </a:solidFill>
          <a:ln w="12700">
            <a:solidFill>
              <a:srgbClr val="2A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7360920"/>
            <a:ext cx="7406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>
                <a:solidFill>
                  <a:srgbClr val="35E07E"/>
                </a:solidFill>
                <a:latin typeface="Open Sans Semibold"/>
              </a:rPr>
              <a:t>LinkedIn  </a:t>
            </a:r>
            <a:r>
              <a:rPr sz="1700" b="0">
                <a:solidFill>
                  <a:srgbClr val="F4F6F7"/>
                </a:solidFill>
                <a:latin typeface="DejaVu Sans Mono"/>
              </a:rPr>
              <a:t>in/souzalimagabriel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8961120"/>
            <a:ext cx="8321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>
                <a:solidFill>
                  <a:srgbClr val="979FA9"/>
                </a:solidFill>
                <a:latin typeface="Open Sans"/>
              </a:rPr>
              <a:t>⭐ Deixe uma star  ·  🔁 Compartilhe  ·  💬 Comente o que achou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16860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spc="120">
                <a:solidFill>
                  <a:srgbClr val="F4F6F7"/>
                </a:solidFill>
                <a:latin typeface="Open Sans Extrabold"/>
              </a:rPr>
              <a:t>BOLÃO</a:t>
            </a:r>
            <a:r>
              <a:rPr sz="1300" b="1" spc="120">
                <a:solidFill>
                  <a:srgbClr val="18CB5F"/>
                </a:solidFill>
                <a:latin typeface="Open Sans Extrabold"/>
              </a:rPr>
              <a:t>COPA</a:t>
            </a:r>
            <a:r>
              <a:rPr sz="1200" b="0" spc="120">
                <a:solidFill>
                  <a:srgbClr val="979FA9"/>
                </a:solidFill>
                <a:latin typeface="Open Sans Semibold"/>
              </a:rPr>
              <a:t>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1686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979FA9"/>
                </a:solidFill>
                <a:latin typeface="DejaVu Sans Mon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475</Words>
  <Application>Microsoft Office PowerPoint</Application>
  <PresentationFormat>Personalizados</PresentationFormat>
  <Paragraphs>73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7" baseType="lpstr">
      <vt:lpstr>Arial</vt:lpstr>
      <vt:lpstr>Calibri</vt:lpstr>
      <vt:lpstr>DejaVu Sans Mono</vt:lpstr>
      <vt:lpstr>Open Sans</vt:lpstr>
      <vt:lpstr>Open Sans Extrabold</vt:lpstr>
      <vt:lpstr>Open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Lima</cp:lastModifiedBy>
  <cp:revision>4</cp:revision>
  <dcterms:created xsi:type="dcterms:W3CDTF">2013-01-27T09:14:16Z</dcterms:created>
  <dcterms:modified xsi:type="dcterms:W3CDTF">2026-06-16T02:27:59Z</dcterms:modified>
  <cp:category/>
</cp:coreProperties>
</file>